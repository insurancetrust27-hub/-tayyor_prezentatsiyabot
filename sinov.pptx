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layfair Display Heavy" charset="1" panose="00000000000000000000"/>
      <p:regular r:id="rId21"/>
    </p:embeddedFont>
    <p:embeddedFont>
      <p:font typeface="Playfair Display" charset="1" panose="00000000000000000000"/>
      <p:regular r:id="rId22"/>
    </p:embeddedFont>
    <p:embeddedFont>
      <p:font typeface="Lora" charset="1" panose="00000500000000000000"/>
      <p:regular r:id="rId23"/>
    </p:embeddedFont>
    <p:embeddedFont>
      <p:font typeface="Lora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3" Type="http://schemas.openxmlformats.org/officeDocument/2006/relationships/image" Target="../media/image12.jpeg"/><Relationship Id="rId4" Type="http://schemas.openxmlformats.org/officeDocument/2006/relationships/image" Target="../media/image1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3" Type="http://schemas.openxmlformats.org/officeDocument/2006/relationships/image" Target="../media/image15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eg"/><Relationship Id="rId3" Type="http://schemas.openxmlformats.org/officeDocument/2006/relationships/image" Target="../media/image2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976565">
            <a:off x="1350725" y="-3819877"/>
            <a:ext cx="6474385" cy="6882003"/>
            <a:chOff x="0" y="0"/>
            <a:chExt cx="1705188" cy="18125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5188" cy="1812544"/>
            </a:xfrm>
            <a:custGeom>
              <a:avLst/>
              <a:gdLst/>
              <a:ahLst/>
              <a:cxnLst/>
              <a:rect r="r" b="b" t="t" l="l"/>
              <a:pathLst>
                <a:path h="1812544" w="1705188">
                  <a:moveTo>
                    <a:pt x="0" y="0"/>
                  </a:moveTo>
                  <a:lnTo>
                    <a:pt x="1705188" y="0"/>
                  </a:lnTo>
                  <a:lnTo>
                    <a:pt x="1705188" y="1812544"/>
                  </a:lnTo>
                  <a:lnTo>
                    <a:pt x="0" y="181254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705188" cy="1936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379762" y="-363772"/>
            <a:ext cx="12816925" cy="11014545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2"/>
              <a:stretch>
                <a:fillRect l="0" t="-37327" r="0" b="-37327"/>
              </a:stretch>
            </a:blipFill>
            <a:ln w="323850" cap="sq">
              <a:solidFill>
                <a:srgbClr val="BF0B4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1976565">
            <a:off x="17020821" y="7334352"/>
            <a:ext cx="2173940" cy="4201144"/>
            <a:chOff x="0" y="0"/>
            <a:chExt cx="572560" cy="11064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50350" y="7534041"/>
            <a:ext cx="2742407" cy="741936"/>
            <a:chOff x="0" y="0"/>
            <a:chExt cx="722280" cy="1954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2280" cy="195407"/>
            </a:xfrm>
            <a:custGeom>
              <a:avLst/>
              <a:gdLst/>
              <a:ahLst/>
              <a:cxnLst/>
              <a:rect r="r" b="b" t="t" l="l"/>
              <a:pathLst>
                <a:path h="195407" w="722280">
                  <a:moveTo>
                    <a:pt x="0" y="0"/>
                  </a:moveTo>
                  <a:lnTo>
                    <a:pt x="722280" y="0"/>
                  </a:lnTo>
                  <a:lnTo>
                    <a:pt x="722280" y="195407"/>
                  </a:lnTo>
                  <a:lnTo>
                    <a:pt x="0" y="195407"/>
                  </a:lnTo>
                  <a:close/>
                </a:path>
              </a:pathLst>
            </a:custGeom>
            <a:ln w="38100" cap="sq">
              <a:solidFill>
                <a:srgbClr val="BF0B47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722280" cy="319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1976565">
            <a:off x="16534084" y="7342039"/>
            <a:ext cx="47625" cy="4201144"/>
            <a:chOff x="0" y="0"/>
            <a:chExt cx="12543" cy="11064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1976565">
            <a:off x="8575626" y="-2100572"/>
            <a:ext cx="47625" cy="4201144"/>
            <a:chOff x="0" y="0"/>
            <a:chExt cx="12543" cy="11064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1976565">
            <a:off x="5257298" y="7334352"/>
            <a:ext cx="47625" cy="4201144"/>
            <a:chOff x="0" y="0"/>
            <a:chExt cx="12543" cy="11064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850350" y="5097181"/>
            <a:ext cx="9408950" cy="142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96"/>
              </a:lnSpc>
            </a:pPr>
            <a:r>
              <a:rPr lang="en-US" sz="11040" b="true">
                <a:solidFill>
                  <a:srgbClr val="000000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TIZIMI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50350" y="3740089"/>
            <a:ext cx="8907004" cy="134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37"/>
              </a:lnSpc>
            </a:pPr>
            <a:r>
              <a:rPr lang="en-US" sz="10460" b="true">
                <a:solidFill>
                  <a:srgbClr val="BF0B47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QUYOSH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50350" y="6607998"/>
            <a:ext cx="8342811" cy="4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 spc="29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Yulduzimiz va uning sayyoralari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20726" y="1151478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953517" y="1151478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818061" y="1151478"/>
            <a:ext cx="1441239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50350" y="7606596"/>
            <a:ext cx="2742407" cy="4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2300" spc="29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TAQDIMOT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976565">
            <a:off x="17020821" y="7334352"/>
            <a:ext cx="2173940" cy="4201144"/>
            <a:chOff x="0" y="0"/>
            <a:chExt cx="572560" cy="11064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976565">
            <a:off x="16534084" y="7342039"/>
            <a:ext cx="47625" cy="4201144"/>
            <a:chOff x="0" y="0"/>
            <a:chExt cx="12543" cy="11064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34349" y="2698855"/>
            <a:ext cx="7838335" cy="6736069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2"/>
              <a:stretch>
                <a:fillRect l="0" t="-37327" r="0" b="-37327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1976565">
            <a:off x="-1086970" y="-1967377"/>
            <a:ext cx="2173940" cy="4201144"/>
            <a:chOff x="0" y="0"/>
            <a:chExt cx="572560" cy="11064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1976565">
            <a:off x="2030681" y="-2545523"/>
            <a:ext cx="47625" cy="4201144"/>
            <a:chOff x="0" y="0"/>
            <a:chExt cx="12543" cy="11064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5325223"/>
            <a:ext cx="8342811" cy="340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Tizim markazida Quyosh joylashgan va u butun tizim massasining deyarli hammasini tashkil qiladi. Sayyoralar Quyosh atrofida ellips shaklidagi orbitalar bo'ylab harakatlanadi.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2217" y="1909745"/>
            <a:ext cx="8342811" cy="297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b="true" sz="2000">
                <a:solidFill>
                  <a:srgbClr val="950837">
                    <a:alpha val="69804"/>
                  </a:srgbClr>
                </a:solidFill>
                <a:latin typeface="Lora Bold"/>
                <a:ea typeface="Lora Bold"/>
                <a:cs typeface="Lora Bold"/>
                <a:sym typeface="Lora Bold"/>
              </a:rPr>
              <a:t>Quyosh tizimi Quyosh va uning atrofida aylanuvchi sayyoralar, yo'ldosh va kichik jismlardan iborat. U taxminan 4,6 milliard yil oldin gaz va chang bulutidan paydo bo'lgan.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976565">
            <a:off x="17020821" y="7334352"/>
            <a:ext cx="2173940" cy="4201144"/>
            <a:chOff x="0" y="0"/>
            <a:chExt cx="572560" cy="11064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976565">
            <a:off x="16534084" y="7342039"/>
            <a:ext cx="47625" cy="4201144"/>
            <a:chOff x="0" y="0"/>
            <a:chExt cx="12543" cy="11064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976565">
            <a:off x="-1086970" y="-1967377"/>
            <a:ext cx="2173940" cy="4201144"/>
            <a:chOff x="0" y="0"/>
            <a:chExt cx="572560" cy="11064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98552" y="-594955"/>
            <a:ext cx="7838335" cy="6736069"/>
            <a:chOff x="0" y="0"/>
            <a:chExt cx="8128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2"/>
              <a:stretch>
                <a:fillRect l="0" t="-11286" r="0" b="-63368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1976565">
            <a:off x="2030681" y="-2545523"/>
            <a:ext cx="47625" cy="4201144"/>
            <a:chOff x="0" y="0"/>
            <a:chExt cx="12543" cy="11064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3672427" y="4594590"/>
            <a:ext cx="7838335" cy="6736069"/>
            <a:chOff x="0" y="0"/>
            <a:chExt cx="812800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3"/>
              <a:stretch>
                <a:fillRect l="-26388" t="0" r="-26388" b="0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4982895" y="6976223"/>
            <a:ext cx="11070403" cy="254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Sayyoralarni kuzatish orqali olimlar iqlim, atmosfera va tortishish kuchi qonuniyatlarini yaxshiroq bilib oladi. Bu bilimlar kosmik parvozlar va sun'iy yo'ldoshlar uchun ham muhim.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506310" y="6828735"/>
            <a:ext cx="11546988" cy="2949277"/>
            <a:chOff x="0" y="0"/>
            <a:chExt cx="3041182" cy="7767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41182" cy="776764"/>
            </a:xfrm>
            <a:custGeom>
              <a:avLst/>
              <a:gdLst/>
              <a:ahLst/>
              <a:cxnLst/>
              <a:rect r="r" b="b" t="t" l="l"/>
              <a:pathLst>
                <a:path h="776764" w="3041182">
                  <a:moveTo>
                    <a:pt x="0" y="0"/>
                  </a:moveTo>
                  <a:lnTo>
                    <a:pt x="3041182" y="0"/>
                  </a:lnTo>
                  <a:lnTo>
                    <a:pt x="3041182" y="776764"/>
                  </a:lnTo>
                  <a:lnTo>
                    <a:pt x="0" y="776764"/>
                  </a:lnTo>
                  <a:close/>
                </a:path>
              </a:pathLst>
            </a:custGeom>
            <a:ln w="38100" cap="sq">
              <a:solidFill>
                <a:srgbClr val="BF0B47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23825"/>
              <a:ext cx="3041182" cy="900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832744" y="1742844"/>
            <a:ext cx="7426556" cy="297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 b="true">
                <a:solidFill>
                  <a:srgbClr val="950837">
                    <a:alpha val="69804"/>
                  </a:srgbClr>
                </a:solidFill>
                <a:latin typeface="Lora Bold"/>
                <a:ea typeface="Lora Bold"/>
                <a:cs typeface="Lora Bold"/>
                <a:sym typeface="Lora Bold"/>
              </a:rPr>
              <a:t>Quyosh tizimini o'rganish Yerning kelib chiqishini va koinotdagi o'rnimizni tushunishga yordam beradi.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976565">
            <a:off x="14999693" y="16062"/>
            <a:ext cx="5476347" cy="13659523"/>
            <a:chOff x="0" y="0"/>
            <a:chExt cx="1442330" cy="35975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330" cy="3597570"/>
            </a:xfrm>
            <a:custGeom>
              <a:avLst/>
              <a:gdLst/>
              <a:ahLst/>
              <a:cxnLst/>
              <a:rect r="r" b="b" t="t" l="l"/>
              <a:pathLst>
                <a:path h="3597570" w="1442330">
                  <a:moveTo>
                    <a:pt x="0" y="0"/>
                  </a:moveTo>
                  <a:lnTo>
                    <a:pt x="1442330" y="0"/>
                  </a:lnTo>
                  <a:lnTo>
                    <a:pt x="1442330" y="3597570"/>
                  </a:lnTo>
                  <a:lnTo>
                    <a:pt x="0" y="3597570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442330" cy="3721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976565">
            <a:off x="8249176" y="8428727"/>
            <a:ext cx="47625" cy="4201144"/>
            <a:chOff x="0" y="0"/>
            <a:chExt cx="12543" cy="11064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089616" y="1555224"/>
            <a:ext cx="5425827" cy="4662820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4654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1976565">
            <a:off x="-1067832" y="-2120481"/>
            <a:ext cx="2173940" cy="4201144"/>
            <a:chOff x="0" y="0"/>
            <a:chExt cx="572560" cy="11064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1976565">
            <a:off x="2049819" y="-2698627"/>
            <a:ext cx="47625" cy="4201144"/>
            <a:chOff x="0" y="0"/>
            <a:chExt cx="12543" cy="11064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5648" y="4990396"/>
            <a:ext cx="5425827" cy="4662820"/>
            <a:chOff x="0" y="0"/>
            <a:chExt cx="812800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3"/>
              <a:stretch>
                <a:fillRect l="0" t="-10751" r="0" b="-63902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115729" y="1720268"/>
            <a:ext cx="13288318" cy="169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Qadimgi davrlardan beri odamlar osmonni kuzatib, sayyoralarning harakatini yozib borgan.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5729" y="4371963"/>
            <a:ext cx="7426556" cy="426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 b="true">
                <a:solidFill>
                  <a:srgbClr val="950837">
                    <a:alpha val="69804"/>
                  </a:srgbClr>
                </a:solidFill>
                <a:latin typeface="Lora Bold"/>
                <a:ea typeface="Lora Bold"/>
                <a:cs typeface="Lora Bold"/>
                <a:sym typeface="Lora Bold"/>
              </a:rPr>
              <a:t>Bugun tizimda sakkizta sayyora bor: Merkuriy, Venera, Yer, Mars, Yupiter, Saturn, Uran va Neptun. Ular ikki guruhga bo'linadi: ichki tosh sayyoralar va tashqi gaz gigantlari.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976565">
            <a:off x="17020821" y="7334352"/>
            <a:ext cx="2173940" cy="4201144"/>
            <a:chOff x="0" y="0"/>
            <a:chExt cx="572560" cy="11064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976565">
            <a:off x="16534084" y="7342039"/>
            <a:ext cx="47625" cy="4201144"/>
            <a:chOff x="0" y="0"/>
            <a:chExt cx="12543" cy="11064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976565">
            <a:off x="-2819143" y="-4761097"/>
            <a:ext cx="6363820" cy="16392110"/>
            <a:chOff x="0" y="0"/>
            <a:chExt cx="1676068" cy="43172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76068" cy="4317264"/>
            </a:xfrm>
            <a:custGeom>
              <a:avLst/>
              <a:gdLst/>
              <a:ahLst/>
              <a:cxnLst/>
              <a:rect r="r" b="b" t="t" l="l"/>
              <a:pathLst>
                <a:path h="4317264" w="1676068">
                  <a:moveTo>
                    <a:pt x="0" y="0"/>
                  </a:moveTo>
                  <a:lnTo>
                    <a:pt x="1676068" y="0"/>
                  </a:lnTo>
                  <a:lnTo>
                    <a:pt x="1676068" y="4317264"/>
                  </a:lnTo>
                  <a:lnTo>
                    <a:pt x="0" y="431726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676068" cy="4441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3390916" y="687731"/>
            <a:ext cx="11849116" cy="8911537"/>
            <a:chOff x="0" y="0"/>
            <a:chExt cx="928752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8752" cy="698500"/>
            </a:xfrm>
            <a:custGeom>
              <a:avLst/>
              <a:gdLst/>
              <a:ahLst/>
              <a:cxnLst/>
              <a:rect r="r" b="b" t="t" l="l"/>
              <a:pathLst>
                <a:path h="698500" w="928752">
                  <a:moveTo>
                    <a:pt x="928752" y="349250"/>
                  </a:moveTo>
                  <a:lnTo>
                    <a:pt x="72555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5552" y="0"/>
                  </a:lnTo>
                  <a:lnTo>
                    <a:pt x="928752" y="349250"/>
                  </a:lnTo>
                  <a:close/>
                </a:path>
              </a:pathLst>
            </a:custGeom>
            <a:blipFill>
              <a:blip r:embed="rId2"/>
              <a:stretch>
                <a:fillRect l="-6335" t="0" r="-6335" b="0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931349" y="3970957"/>
            <a:ext cx="7269963" cy="469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Zondlar sayyoralar yonidan o'tib, ularning suratlari va ma'lumotlarini Yerga yuboradi. Marsda o'rganish uchun maxsus roverlar ishlaydi. Bu tadqiqotlar hayot izlarini qidirishga yordam beradi.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31349" y="1230405"/>
            <a:ext cx="8327951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 b="true">
                <a:solidFill>
                  <a:srgbClr val="950837">
                    <a:alpha val="69804"/>
                  </a:srgbClr>
                </a:solidFill>
                <a:latin typeface="Lora Bold"/>
                <a:ea typeface="Lora Bold"/>
                <a:cs typeface="Lora Bold"/>
                <a:sym typeface="Lora Bold"/>
              </a:rPr>
              <a:t>Kosmik zondlar va teleskoplar tizimni tobora chuqurroq o'rganishga imkon beryapti.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976565">
            <a:off x="17020821" y="7334352"/>
            <a:ext cx="2173940" cy="4201144"/>
            <a:chOff x="0" y="0"/>
            <a:chExt cx="572560" cy="11064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976565">
            <a:off x="16534084" y="7342039"/>
            <a:ext cx="47625" cy="4201144"/>
            <a:chOff x="0" y="0"/>
            <a:chExt cx="12543" cy="11064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976565">
            <a:off x="-2819143" y="-4761097"/>
            <a:ext cx="6363820" cy="16392110"/>
            <a:chOff x="0" y="0"/>
            <a:chExt cx="1676068" cy="43172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76068" cy="4317264"/>
            </a:xfrm>
            <a:custGeom>
              <a:avLst/>
              <a:gdLst/>
              <a:ahLst/>
              <a:cxnLst/>
              <a:rect r="r" b="b" t="t" l="l"/>
              <a:pathLst>
                <a:path h="4317264" w="1676068">
                  <a:moveTo>
                    <a:pt x="0" y="0"/>
                  </a:moveTo>
                  <a:lnTo>
                    <a:pt x="1676068" y="0"/>
                  </a:lnTo>
                  <a:lnTo>
                    <a:pt x="1676068" y="4317264"/>
                  </a:lnTo>
                  <a:lnTo>
                    <a:pt x="0" y="431726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676068" cy="4441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606846" y="687731"/>
            <a:ext cx="6289588" cy="5507546"/>
            <a:chOff x="0" y="0"/>
            <a:chExt cx="797683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7683" cy="698500"/>
            </a:xfrm>
            <a:custGeom>
              <a:avLst/>
              <a:gdLst/>
              <a:ahLst/>
              <a:cxnLst/>
              <a:rect r="r" b="b" t="t" l="l"/>
              <a:pathLst>
                <a:path h="698500" w="797683">
                  <a:moveTo>
                    <a:pt x="797683" y="349250"/>
                  </a:moveTo>
                  <a:lnTo>
                    <a:pt x="59448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594483" y="0"/>
                  </a:lnTo>
                  <a:lnTo>
                    <a:pt x="797683" y="349250"/>
                  </a:lnTo>
                  <a:close/>
                </a:path>
              </a:pathLst>
            </a:custGeom>
            <a:blipFill>
              <a:blip r:embed="rId2"/>
              <a:stretch>
                <a:fillRect l="0" t="-35703" r="0" b="-35703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-2159219" y="4032778"/>
            <a:ext cx="6289588" cy="5507546"/>
            <a:chOff x="0" y="0"/>
            <a:chExt cx="797683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97683" cy="698500"/>
            </a:xfrm>
            <a:custGeom>
              <a:avLst/>
              <a:gdLst/>
              <a:ahLst/>
              <a:cxnLst/>
              <a:rect r="r" b="b" t="t" l="l"/>
              <a:pathLst>
                <a:path h="698500" w="797683">
                  <a:moveTo>
                    <a:pt x="797683" y="349250"/>
                  </a:moveTo>
                  <a:lnTo>
                    <a:pt x="59448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594483" y="0"/>
                  </a:lnTo>
                  <a:lnTo>
                    <a:pt x="797683" y="349250"/>
                  </a:lnTo>
                  <a:close/>
                </a:path>
              </a:pathLst>
            </a:custGeom>
            <a:blipFill>
              <a:blip r:embed="rId3"/>
              <a:stretch>
                <a:fillRect l="0" t="-29999" r="0" b="-29999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854412" y="7080998"/>
            <a:ext cx="6289588" cy="5507546"/>
            <a:chOff x="0" y="0"/>
            <a:chExt cx="797683" cy="698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97683" cy="698500"/>
            </a:xfrm>
            <a:custGeom>
              <a:avLst/>
              <a:gdLst/>
              <a:ahLst/>
              <a:cxnLst/>
              <a:rect r="r" b="b" t="t" l="l"/>
              <a:pathLst>
                <a:path h="698500" w="797683">
                  <a:moveTo>
                    <a:pt x="797683" y="349250"/>
                  </a:moveTo>
                  <a:lnTo>
                    <a:pt x="59448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594483" y="0"/>
                  </a:lnTo>
                  <a:lnTo>
                    <a:pt x="797683" y="349250"/>
                  </a:lnTo>
                  <a:close/>
                </a:path>
              </a:pathLst>
            </a:custGeom>
            <a:blipFill>
              <a:blip r:embed="rId4"/>
              <a:stretch>
                <a:fillRect l="0" t="-35703" r="0" b="-35703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455261" y="2351076"/>
            <a:ext cx="8389856" cy="443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 spc="29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SAYYORALAR O'LCHAMI, TARKIBI VA QUYOSHDAN UZOQLIGI BILAN FARQ QILADI. YERGA YAQIN SAYYORALAR TOSHDAN, UZOQDAGILAR ASOSAN GAZDAN IBORAT.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976565">
            <a:off x="14980555" y="169166"/>
            <a:ext cx="5476347" cy="13659523"/>
            <a:chOff x="0" y="0"/>
            <a:chExt cx="1442330" cy="35975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330" cy="3597570"/>
            </a:xfrm>
            <a:custGeom>
              <a:avLst/>
              <a:gdLst/>
              <a:ahLst/>
              <a:cxnLst/>
              <a:rect r="r" b="b" t="t" l="l"/>
              <a:pathLst>
                <a:path h="3597570" w="1442330">
                  <a:moveTo>
                    <a:pt x="0" y="0"/>
                  </a:moveTo>
                  <a:lnTo>
                    <a:pt x="1442330" y="0"/>
                  </a:lnTo>
                  <a:lnTo>
                    <a:pt x="1442330" y="3597570"/>
                  </a:lnTo>
                  <a:lnTo>
                    <a:pt x="0" y="3597570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442330" cy="3721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976565">
            <a:off x="-1086970" y="-1967377"/>
            <a:ext cx="2173940" cy="4201144"/>
            <a:chOff x="0" y="0"/>
            <a:chExt cx="572560" cy="11064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976565">
            <a:off x="2030681" y="-2545523"/>
            <a:ext cx="47625" cy="4201144"/>
            <a:chOff x="0" y="0"/>
            <a:chExt cx="12543" cy="11064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34349" y="2029025"/>
            <a:ext cx="7515705" cy="6458809"/>
            <a:chOff x="0" y="0"/>
            <a:chExt cx="8128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454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226800" y="6717693"/>
            <a:ext cx="7515705" cy="6458809"/>
            <a:chOff x="0" y="0"/>
            <a:chExt cx="812800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3"/>
              <a:stretch>
                <a:fillRect l="0" t="-38997" r="0" b="-38997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516641" y="8841307"/>
            <a:ext cx="7515705" cy="6458809"/>
            <a:chOff x="0" y="0"/>
            <a:chExt cx="812800" cy="698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4"/>
              <a:stretch>
                <a:fillRect l="-19026" t="0" r="-19026" b="0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26320" y="1618799"/>
            <a:ext cx="9244057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Kosmosni o'rganish katta xarajat va murakkab texnologiyani talab qiladi.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6320" y="4814527"/>
            <a:ext cx="8008650" cy="426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 b="true">
                <a:solidFill>
                  <a:srgbClr val="950837">
                    <a:alpha val="69804"/>
                  </a:srgbClr>
                </a:solidFill>
                <a:latin typeface="Lora Bold"/>
                <a:ea typeface="Lora Bold"/>
                <a:cs typeface="Lora Bold"/>
                <a:sym typeface="Lora Bold"/>
              </a:rPr>
              <a:t>Masofalar juda katta, shuning uchun zondlar sayyoralarga yillar davomida uchadi. Radiatsiya va sovuq uskunalarga zarar yetkazadi. Shunga qaramay, xalqaro hamkorlik bu muammolarni kamaytiryapti.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976565">
            <a:off x="14980555" y="169166"/>
            <a:ext cx="5476347" cy="13659523"/>
            <a:chOff x="0" y="0"/>
            <a:chExt cx="1442330" cy="35975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330" cy="3597570"/>
            </a:xfrm>
            <a:custGeom>
              <a:avLst/>
              <a:gdLst/>
              <a:ahLst/>
              <a:cxnLst/>
              <a:rect r="r" b="b" t="t" l="l"/>
              <a:pathLst>
                <a:path h="3597570" w="1442330">
                  <a:moveTo>
                    <a:pt x="0" y="0"/>
                  </a:moveTo>
                  <a:lnTo>
                    <a:pt x="1442330" y="0"/>
                  </a:lnTo>
                  <a:lnTo>
                    <a:pt x="1442330" y="3597570"/>
                  </a:lnTo>
                  <a:lnTo>
                    <a:pt x="0" y="3597570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442330" cy="3721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976565">
            <a:off x="-1086970" y="-1967377"/>
            <a:ext cx="2173940" cy="4201144"/>
            <a:chOff x="0" y="0"/>
            <a:chExt cx="572560" cy="11064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976565">
            <a:off x="2030681" y="-2545523"/>
            <a:ext cx="47625" cy="4201144"/>
            <a:chOff x="0" y="0"/>
            <a:chExt cx="12543" cy="11064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79273" y="2100170"/>
            <a:ext cx="6658874" cy="5562160"/>
            <a:chOff x="0" y="0"/>
            <a:chExt cx="928752" cy="7757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8752" cy="775787"/>
            </a:xfrm>
            <a:custGeom>
              <a:avLst/>
              <a:gdLst/>
              <a:ahLst/>
              <a:cxnLst/>
              <a:rect r="r" b="b" t="t" l="l"/>
              <a:pathLst>
                <a:path h="775787" w="928752">
                  <a:moveTo>
                    <a:pt x="928752" y="387893"/>
                  </a:moveTo>
                  <a:lnTo>
                    <a:pt x="725552" y="775787"/>
                  </a:lnTo>
                  <a:lnTo>
                    <a:pt x="203200" y="775787"/>
                  </a:lnTo>
                  <a:lnTo>
                    <a:pt x="0" y="387893"/>
                  </a:lnTo>
                  <a:lnTo>
                    <a:pt x="203200" y="0"/>
                  </a:lnTo>
                  <a:lnTo>
                    <a:pt x="725552" y="0"/>
                  </a:lnTo>
                  <a:lnTo>
                    <a:pt x="928752" y="387893"/>
                  </a:lnTo>
                  <a:close/>
                </a:path>
              </a:pathLst>
            </a:custGeom>
            <a:blipFill>
              <a:blip r:embed="rId2"/>
              <a:stretch>
                <a:fillRect l="0" t="-39675" r="0" b="-39675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551970" y="8025163"/>
            <a:ext cx="6658874" cy="5562160"/>
            <a:chOff x="0" y="0"/>
            <a:chExt cx="928752" cy="7757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8752" cy="775787"/>
            </a:xfrm>
            <a:custGeom>
              <a:avLst/>
              <a:gdLst/>
              <a:ahLst/>
              <a:cxnLst/>
              <a:rect r="r" b="b" t="t" l="l"/>
              <a:pathLst>
                <a:path h="775787" w="928752">
                  <a:moveTo>
                    <a:pt x="928752" y="387893"/>
                  </a:moveTo>
                  <a:lnTo>
                    <a:pt x="725552" y="775787"/>
                  </a:lnTo>
                  <a:lnTo>
                    <a:pt x="203200" y="775787"/>
                  </a:lnTo>
                  <a:lnTo>
                    <a:pt x="0" y="387893"/>
                  </a:lnTo>
                  <a:lnTo>
                    <a:pt x="203200" y="0"/>
                  </a:lnTo>
                  <a:lnTo>
                    <a:pt x="725552" y="0"/>
                  </a:lnTo>
                  <a:lnTo>
                    <a:pt x="928752" y="387893"/>
                  </a:lnTo>
                  <a:close/>
                </a:path>
              </a:pathLst>
            </a:custGeom>
            <a:blipFill>
              <a:blip r:embed="rId3"/>
              <a:stretch>
                <a:fillRect l="-12686" t="0" r="-12686" b="0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587269" y="2474144"/>
            <a:ext cx="7160771" cy="542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 spc="29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QUYOSH TIZIMI HAQIDAGI BILIMLAR TEXNOLOGIYANI RIVOJLANTIRADI, YANGI KASHFIYOTLARGA YO'L OCHADI VA ODAMLARNI ILM-FANGA QIZIQTIRADI.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976565">
            <a:off x="17020821" y="7334352"/>
            <a:ext cx="2173940" cy="4201144"/>
            <a:chOff x="0" y="0"/>
            <a:chExt cx="572560" cy="11064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976565">
            <a:off x="16534084" y="7342039"/>
            <a:ext cx="47625" cy="4201144"/>
            <a:chOff x="0" y="0"/>
            <a:chExt cx="12543" cy="11064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976565">
            <a:off x="-2819143" y="-4761097"/>
            <a:ext cx="6363820" cy="16392110"/>
            <a:chOff x="0" y="0"/>
            <a:chExt cx="1676068" cy="43172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76068" cy="4317264"/>
            </a:xfrm>
            <a:custGeom>
              <a:avLst/>
              <a:gdLst/>
              <a:ahLst/>
              <a:cxnLst/>
              <a:rect r="r" b="b" t="t" l="l"/>
              <a:pathLst>
                <a:path h="4317264" w="1676068">
                  <a:moveTo>
                    <a:pt x="0" y="0"/>
                  </a:moveTo>
                  <a:lnTo>
                    <a:pt x="1676068" y="0"/>
                  </a:lnTo>
                  <a:lnTo>
                    <a:pt x="1676068" y="4317264"/>
                  </a:lnTo>
                  <a:lnTo>
                    <a:pt x="0" y="431726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676068" cy="4441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5924558" y="2360348"/>
            <a:ext cx="11849116" cy="8911537"/>
            <a:chOff x="0" y="0"/>
            <a:chExt cx="928752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8752" cy="698500"/>
            </a:xfrm>
            <a:custGeom>
              <a:avLst/>
              <a:gdLst/>
              <a:ahLst/>
              <a:cxnLst/>
              <a:rect r="r" b="b" t="t" l="l"/>
              <a:pathLst>
                <a:path h="698500" w="928752">
                  <a:moveTo>
                    <a:pt x="928752" y="349250"/>
                  </a:moveTo>
                  <a:lnTo>
                    <a:pt x="72555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5552" y="0"/>
                  </a:lnTo>
                  <a:lnTo>
                    <a:pt x="928752" y="349250"/>
                  </a:lnTo>
                  <a:close/>
                </a:path>
              </a:pathLst>
            </a:custGeom>
            <a:blipFill>
              <a:blip r:embed="rId2"/>
              <a:stretch>
                <a:fillRect l="0" t="-49598" r="0" b="-49598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262928" y="-1091760"/>
            <a:ext cx="4843108" cy="4240919"/>
            <a:chOff x="0" y="0"/>
            <a:chExt cx="797683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97683" cy="698500"/>
            </a:xfrm>
            <a:custGeom>
              <a:avLst/>
              <a:gdLst/>
              <a:ahLst/>
              <a:cxnLst/>
              <a:rect r="r" b="b" t="t" l="l"/>
              <a:pathLst>
                <a:path h="698500" w="797683">
                  <a:moveTo>
                    <a:pt x="797683" y="349250"/>
                  </a:moveTo>
                  <a:lnTo>
                    <a:pt x="59448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594483" y="0"/>
                  </a:lnTo>
                  <a:lnTo>
                    <a:pt x="797683" y="349250"/>
                  </a:lnTo>
                  <a:close/>
                </a:path>
              </a:pathLst>
            </a:custGeom>
            <a:blipFill>
              <a:blip r:embed="rId3"/>
              <a:stretch>
                <a:fillRect l="0" t="-35649" r="0" b="-35649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8211990" y="1852976"/>
            <a:ext cx="8451714" cy="340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Orbita - jismning boshqa jism atrofidagi harakat yo'li. Sayyora - Quyosh atrofida aylanuvchi katta jism. Yo'ldosh - sayyora atrofida aylanuvchi jism. Asteroid - toshli kichik jism.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63071" y="5911057"/>
            <a:ext cx="8451714" cy="254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Kometa - muz va changdan iborat jism. Galaktika - yulduzlar to'plami. Yorug'lik yili - yorug'lik bir yilda bosib o'tadigan masofa.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333" r="0" b="-5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1976565">
            <a:off x="17020821" y="7334352"/>
            <a:ext cx="2173940" cy="4201144"/>
            <a:chOff x="0" y="0"/>
            <a:chExt cx="572560" cy="11064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976565">
            <a:off x="16534084" y="7342039"/>
            <a:ext cx="47625" cy="4201144"/>
            <a:chOff x="0" y="0"/>
            <a:chExt cx="12543" cy="11064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976565">
            <a:off x="-1086970" y="-1967377"/>
            <a:ext cx="2173940" cy="4201144"/>
            <a:chOff x="0" y="0"/>
            <a:chExt cx="572560" cy="11064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1976565">
            <a:off x="2030681" y="-2545523"/>
            <a:ext cx="47625" cy="4201144"/>
            <a:chOff x="0" y="0"/>
            <a:chExt cx="12543" cy="11064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35030" y="2290490"/>
            <a:ext cx="5624096" cy="1121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313"/>
              </a:lnSpc>
              <a:spcBef>
                <a:spcPct val="0"/>
              </a:spcBef>
            </a:pPr>
            <a:r>
              <a:rPr lang="en-US" b="true" sz="8109" strike="noStrike" u="none">
                <a:solidFill>
                  <a:srgbClr val="BF0B47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SAYYORA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95645" y="4126068"/>
            <a:ext cx="7750600" cy="2053120"/>
            <a:chOff x="0" y="0"/>
            <a:chExt cx="2041310" cy="5407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41310" cy="540739"/>
            </a:xfrm>
            <a:custGeom>
              <a:avLst/>
              <a:gdLst/>
              <a:ahLst/>
              <a:cxnLst/>
              <a:rect r="r" b="b" t="t" l="l"/>
              <a:pathLst>
                <a:path h="540739" w="2041310">
                  <a:moveTo>
                    <a:pt x="0" y="0"/>
                  </a:moveTo>
                  <a:lnTo>
                    <a:pt x="2041310" y="0"/>
                  </a:lnTo>
                  <a:lnTo>
                    <a:pt x="2041310" y="540739"/>
                  </a:lnTo>
                  <a:lnTo>
                    <a:pt x="0" y="540739"/>
                  </a:lnTo>
                  <a:close/>
                </a:path>
              </a:pathLst>
            </a:custGeom>
            <a:ln w="38100" cap="sq">
              <a:solidFill>
                <a:srgbClr val="BF0B47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23825"/>
              <a:ext cx="2041310" cy="664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317043" y="4969623"/>
            <a:ext cx="6816550" cy="8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Merkuriy, Venera, Yer va Mars qattiq yuzaga ega.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20726" y="1151478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953517" y="1151478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818061" y="1151478"/>
            <a:ext cx="1441239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41755" y="2235260"/>
            <a:ext cx="6224382" cy="112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13"/>
              </a:lnSpc>
              <a:spcBef>
                <a:spcPct val="0"/>
              </a:spcBef>
            </a:pPr>
            <a:r>
              <a:rPr lang="en-US" b="true" sz="8660" strike="noStrike" u="none">
                <a:solidFill>
                  <a:srgbClr val="000000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TURLARI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17043" y="4186314"/>
            <a:ext cx="3415449" cy="4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 spc="29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TOSH SAYYORALAR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46493" y="4126068"/>
            <a:ext cx="1298303" cy="1115729"/>
            <a:chOff x="0" y="0"/>
            <a:chExt cx="812800" cy="698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14300" y="-123825"/>
              <a:ext cx="584200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95645" y="6694847"/>
            <a:ext cx="7750600" cy="2053120"/>
            <a:chOff x="0" y="0"/>
            <a:chExt cx="2041310" cy="5407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41310" cy="540739"/>
            </a:xfrm>
            <a:custGeom>
              <a:avLst/>
              <a:gdLst/>
              <a:ahLst/>
              <a:cxnLst/>
              <a:rect r="r" b="b" t="t" l="l"/>
              <a:pathLst>
                <a:path h="540739" w="2041310">
                  <a:moveTo>
                    <a:pt x="0" y="0"/>
                  </a:moveTo>
                  <a:lnTo>
                    <a:pt x="2041310" y="0"/>
                  </a:lnTo>
                  <a:lnTo>
                    <a:pt x="2041310" y="540739"/>
                  </a:lnTo>
                  <a:lnTo>
                    <a:pt x="0" y="540739"/>
                  </a:lnTo>
                  <a:close/>
                </a:path>
              </a:pathLst>
            </a:custGeom>
            <a:ln w="38100" cap="sq">
              <a:solidFill>
                <a:srgbClr val="BF0B47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123825"/>
              <a:ext cx="2041310" cy="664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317043" y="7538402"/>
            <a:ext cx="6816550" cy="8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Yupiter va Saturn asosan vodorod va geliydan iborat.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317043" y="6755093"/>
            <a:ext cx="4590246" cy="4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 spc="29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MUZ GIGANTLAR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46493" y="6694847"/>
            <a:ext cx="1298303" cy="1115729"/>
            <a:chOff x="0" y="0"/>
            <a:chExt cx="812800" cy="698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BF0B4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14300" y="-123825"/>
              <a:ext cx="584200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08700" y="4126068"/>
            <a:ext cx="7750600" cy="2053120"/>
            <a:chOff x="0" y="0"/>
            <a:chExt cx="2041310" cy="54073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1310" cy="540739"/>
            </a:xfrm>
            <a:custGeom>
              <a:avLst/>
              <a:gdLst/>
              <a:ahLst/>
              <a:cxnLst/>
              <a:rect r="r" b="b" t="t" l="l"/>
              <a:pathLst>
                <a:path h="540739" w="2041310">
                  <a:moveTo>
                    <a:pt x="0" y="0"/>
                  </a:moveTo>
                  <a:lnTo>
                    <a:pt x="2041310" y="0"/>
                  </a:lnTo>
                  <a:lnTo>
                    <a:pt x="2041310" y="540739"/>
                  </a:lnTo>
                  <a:lnTo>
                    <a:pt x="0" y="540739"/>
                  </a:lnTo>
                  <a:close/>
                </a:path>
              </a:pathLst>
            </a:custGeom>
            <a:ln w="38100" cap="sq">
              <a:solidFill>
                <a:srgbClr val="BF0B47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123825"/>
              <a:ext cx="2041310" cy="664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330098" y="4969623"/>
            <a:ext cx="6816550" cy="8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Uran va Neptun tarkibida muzlagan moddalar ko'p.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330098" y="4186314"/>
            <a:ext cx="3415449" cy="4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 spc="29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GAZ GIGANTLAR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859548" y="4126068"/>
            <a:ext cx="1298303" cy="1115729"/>
            <a:chOff x="0" y="0"/>
            <a:chExt cx="812800" cy="6985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BF0B47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14300" y="-123825"/>
              <a:ext cx="584200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508700" y="6694847"/>
            <a:ext cx="7750600" cy="2053120"/>
            <a:chOff x="0" y="0"/>
            <a:chExt cx="2041310" cy="5407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41310" cy="540739"/>
            </a:xfrm>
            <a:custGeom>
              <a:avLst/>
              <a:gdLst/>
              <a:ahLst/>
              <a:cxnLst/>
              <a:rect r="r" b="b" t="t" l="l"/>
              <a:pathLst>
                <a:path h="540739" w="2041310">
                  <a:moveTo>
                    <a:pt x="0" y="0"/>
                  </a:moveTo>
                  <a:lnTo>
                    <a:pt x="2041310" y="0"/>
                  </a:lnTo>
                  <a:lnTo>
                    <a:pt x="2041310" y="540739"/>
                  </a:lnTo>
                  <a:lnTo>
                    <a:pt x="0" y="540739"/>
                  </a:lnTo>
                  <a:close/>
                </a:path>
              </a:pathLst>
            </a:custGeom>
            <a:ln w="38100" cap="sq">
              <a:solidFill>
                <a:srgbClr val="BF0B47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123825"/>
              <a:ext cx="2041310" cy="664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330098" y="7538402"/>
            <a:ext cx="6816550" cy="8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Pluton kabi kichik jismlar mitti sayyora hisoblanadi.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30098" y="6755093"/>
            <a:ext cx="4087364" cy="4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 spc="29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MITTI SAYYORALAR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859548" y="6694847"/>
            <a:ext cx="1298303" cy="1115729"/>
            <a:chOff x="0" y="0"/>
            <a:chExt cx="812800" cy="6985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114300" y="-123825"/>
              <a:ext cx="584200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892217" y="6880733"/>
            <a:ext cx="1122637" cy="69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7"/>
              </a:lnSpc>
              <a:spcBef>
                <a:spcPct val="0"/>
              </a:spcBef>
            </a:pPr>
            <a:r>
              <a:rPr lang="en-US" b="true" sz="5341">
                <a:solidFill>
                  <a:srgbClr val="FFFFFF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03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34326" y="4311954"/>
            <a:ext cx="1122637" cy="69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7"/>
              </a:lnSpc>
              <a:spcBef>
                <a:spcPct val="0"/>
              </a:spcBef>
            </a:pPr>
            <a:r>
              <a:rPr lang="en-US" b="true" sz="5341">
                <a:solidFill>
                  <a:srgbClr val="FFFFFF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01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926326" y="6880733"/>
            <a:ext cx="1122637" cy="69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7"/>
              </a:lnSpc>
              <a:spcBef>
                <a:spcPct val="0"/>
              </a:spcBef>
            </a:pPr>
            <a:r>
              <a:rPr lang="en-US" b="true" sz="5341">
                <a:solidFill>
                  <a:srgbClr val="FFFFFF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04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968436" y="4311954"/>
            <a:ext cx="1122637" cy="69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7"/>
              </a:lnSpc>
              <a:spcBef>
                <a:spcPct val="0"/>
              </a:spcBef>
            </a:pPr>
            <a:r>
              <a:rPr lang="en-US" b="true" sz="5341">
                <a:solidFill>
                  <a:srgbClr val="FFFFFF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02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333" r="0" b="-5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1976565">
            <a:off x="17020821" y="7334352"/>
            <a:ext cx="2173940" cy="4201144"/>
            <a:chOff x="0" y="0"/>
            <a:chExt cx="572560" cy="11064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976565">
            <a:off x="16534084" y="7342039"/>
            <a:ext cx="47625" cy="4201144"/>
            <a:chOff x="0" y="0"/>
            <a:chExt cx="12543" cy="11064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976565">
            <a:off x="-1086970" y="-1967377"/>
            <a:ext cx="2173940" cy="4201144"/>
            <a:chOff x="0" y="0"/>
            <a:chExt cx="572560" cy="11064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1976565">
            <a:off x="2030681" y="-2545523"/>
            <a:ext cx="47625" cy="4201144"/>
            <a:chOff x="0" y="0"/>
            <a:chExt cx="12543" cy="11064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41086" y="2290490"/>
            <a:ext cx="8303415" cy="1121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313"/>
              </a:lnSpc>
              <a:spcBef>
                <a:spcPct val="0"/>
              </a:spcBef>
            </a:pPr>
            <a:r>
              <a:rPr lang="en-US" b="true" sz="8660">
                <a:solidFill>
                  <a:srgbClr val="BF0B47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KICHIK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20726" y="1151478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53517" y="1151478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818061" y="1151478"/>
            <a:ext cx="1441239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27130" y="2235260"/>
            <a:ext cx="5719783" cy="112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13"/>
              </a:lnSpc>
              <a:spcBef>
                <a:spcPct val="0"/>
              </a:spcBef>
            </a:pPr>
            <a:r>
              <a:rPr lang="en-US" b="true" sz="8250" strike="noStrike" u="none">
                <a:solidFill>
                  <a:srgbClr val="000000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JISMLAR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20983" y="4450850"/>
            <a:ext cx="4571811" cy="4089485"/>
            <a:chOff x="0" y="0"/>
            <a:chExt cx="1204098" cy="10770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4098" cy="1077066"/>
            </a:xfrm>
            <a:custGeom>
              <a:avLst/>
              <a:gdLst/>
              <a:ahLst/>
              <a:cxnLst/>
              <a:rect r="r" b="b" t="t" l="l"/>
              <a:pathLst>
                <a:path h="1077066" w="1204098">
                  <a:moveTo>
                    <a:pt x="0" y="0"/>
                  </a:moveTo>
                  <a:lnTo>
                    <a:pt x="1204098" y="0"/>
                  </a:lnTo>
                  <a:lnTo>
                    <a:pt x="1204098" y="1077066"/>
                  </a:lnTo>
                  <a:lnTo>
                    <a:pt x="0" y="1077066"/>
                  </a:lnTo>
                  <a:close/>
                </a:path>
              </a:pathLst>
            </a:custGeom>
            <a:ln w="38100" cap="sq">
              <a:solidFill>
                <a:srgbClr val="BF0B47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23825"/>
              <a:ext cx="1204098" cy="1200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115774" y="6209822"/>
            <a:ext cx="3582229" cy="169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Mars va Yupiter orasidagi kamarda joylashgan toshli jismlar.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17043" y="5113489"/>
            <a:ext cx="3085445" cy="96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2300" spc="29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ASTEROIDLAR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257737" y="3892985"/>
            <a:ext cx="1298303" cy="1115729"/>
            <a:chOff x="0" y="0"/>
            <a:chExt cx="812800" cy="698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14300" y="-123825"/>
              <a:ext cx="584200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345570" y="4078871"/>
            <a:ext cx="1122637" cy="69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7"/>
              </a:lnSpc>
              <a:spcBef>
                <a:spcPct val="0"/>
              </a:spcBef>
            </a:pPr>
            <a:r>
              <a:rPr lang="en-US" b="true" sz="5341">
                <a:solidFill>
                  <a:srgbClr val="FFFFFF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01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858095" y="4450850"/>
            <a:ext cx="4571811" cy="4089485"/>
            <a:chOff x="0" y="0"/>
            <a:chExt cx="1204098" cy="10770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04098" cy="1077066"/>
            </a:xfrm>
            <a:custGeom>
              <a:avLst/>
              <a:gdLst/>
              <a:ahLst/>
              <a:cxnLst/>
              <a:rect r="r" b="b" t="t" l="l"/>
              <a:pathLst>
                <a:path h="1077066" w="1204098">
                  <a:moveTo>
                    <a:pt x="0" y="0"/>
                  </a:moveTo>
                  <a:lnTo>
                    <a:pt x="1204098" y="0"/>
                  </a:lnTo>
                  <a:lnTo>
                    <a:pt x="1204098" y="1077066"/>
                  </a:lnTo>
                  <a:lnTo>
                    <a:pt x="0" y="1077066"/>
                  </a:lnTo>
                  <a:close/>
                </a:path>
              </a:pathLst>
            </a:custGeom>
            <a:ln w="38100" cap="sq">
              <a:solidFill>
                <a:srgbClr val="BF0B47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1204098" cy="1200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352885" y="5830910"/>
            <a:ext cx="3582229" cy="169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Quyoshga yaqinlashganda dumli shaklga kiradigan muzli jismlar.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554155" y="5113489"/>
            <a:ext cx="3085445" cy="4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2300" spc="29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KOMETALAR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494848" y="3892985"/>
            <a:ext cx="1298303" cy="1115729"/>
            <a:chOff x="0" y="0"/>
            <a:chExt cx="812800" cy="698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14300" y="-123825"/>
              <a:ext cx="584200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8582681" y="4078871"/>
            <a:ext cx="1122637" cy="69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7"/>
              </a:lnSpc>
              <a:spcBef>
                <a:spcPct val="0"/>
              </a:spcBef>
            </a:pPr>
            <a:r>
              <a:rPr lang="en-US" b="true" sz="5341">
                <a:solidFill>
                  <a:srgbClr val="FFFFFF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02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096655" y="4450850"/>
            <a:ext cx="4571811" cy="4089485"/>
            <a:chOff x="0" y="0"/>
            <a:chExt cx="1204098" cy="107706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04098" cy="1077066"/>
            </a:xfrm>
            <a:custGeom>
              <a:avLst/>
              <a:gdLst/>
              <a:ahLst/>
              <a:cxnLst/>
              <a:rect r="r" b="b" t="t" l="l"/>
              <a:pathLst>
                <a:path h="1077066" w="1204098">
                  <a:moveTo>
                    <a:pt x="0" y="0"/>
                  </a:moveTo>
                  <a:lnTo>
                    <a:pt x="1204098" y="0"/>
                  </a:lnTo>
                  <a:lnTo>
                    <a:pt x="1204098" y="1077066"/>
                  </a:lnTo>
                  <a:lnTo>
                    <a:pt x="0" y="1077066"/>
                  </a:lnTo>
                  <a:close/>
                </a:path>
              </a:pathLst>
            </a:custGeom>
            <a:ln w="38100" cap="sq">
              <a:solidFill>
                <a:srgbClr val="BF0B47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123825"/>
              <a:ext cx="1204098" cy="1200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591446" y="5830910"/>
            <a:ext cx="3582229" cy="169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Yer atmosferasiga kirib, yerga tushgan kosmik jismlar.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251412" y="5113489"/>
            <a:ext cx="4168051" cy="4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2300" spc="29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METEORITLAR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3733409" y="3892985"/>
            <a:ext cx="1298303" cy="1115729"/>
            <a:chOff x="0" y="0"/>
            <a:chExt cx="812800" cy="6985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114300" y="-123825"/>
              <a:ext cx="584200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3821242" y="4078871"/>
            <a:ext cx="1122637" cy="69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7"/>
              </a:lnSpc>
              <a:spcBef>
                <a:spcPct val="0"/>
              </a:spcBef>
            </a:pPr>
            <a:r>
              <a:rPr lang="en-US" b="true" sz="5341">
                <a:solidFill>
                  <a:srgbClr val="FFFFFF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03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2488562" y="8130697"/>
            <a:ext cx="2742407" cy="741936"/>
            <a:chOff x="0" y="0"/>
            <a:chExt cx="722280" cy="19540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22280" cy="195407"/>
            </a:xfrm>
            <a:custGeom>
              <a:avLst/>
              <a:gdLst/>
              <a:ahLst/>
              <a:cxnLst/>
              <a:rect r="r" b="b" t="t" l="l"/>
              <a:pathLst>
                <a:path h="195407" w="722280">
                  <a:moveTo>
                    <a:pt x="0" y="0"/>
                  </a:moveTo>
                  <a:lnTo>
                    <a:pt x="722280" y="0"/>
                  </a:lnTo>
                  <a:lnTo>
                    <a:pt x="722280" y="195407"/>
                  </a:lnTo>
                  <a:lnTo>
                    <a:pt x="0" y="195407"/>
                  </a:lnTo>
                  <a:close/>
                </a:path>
              </a:pathLst>
            </a:custGeom>
            <a:solidFill>
              <a:srgbClr val="BF0B47"/>
            </a:solidFill>
            <a:ln w="38100" cap="sq">
              <a:solidFill>
                <a:srgbClr val="BF0B47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123825"/>
              <a:ext cx="722280" cy="319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2488562" y="8203252"/>
            <a:ext cx="2742407" cy="4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2300" spc="292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BATAFSIL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7772796" y="8169367"/>
            <a:ext cx="2742407" cy="741936"/>
            <a:chOff x="0" y="0"/>
            <a:chExt cx="722280" cy="19540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22280" cy="195407"/>
            </a:xfrm>
            <a:custGeom>
              <a:avLst/>
              <a:gdLst/>
              <a:ahLst/>
              <a:cxnLst/>
              <a:rect r="r" b="b" t="t" l="l"/>
              <a:pathLst>
                <a:path h="195407" w="722280">
                  <a:moveTo>
                    <a:pt x="0" y="0"/>
                  </a:moveTo>
                  <a:lnTo>
                    <a:pt x="722280" y="0"/>
                  </a:lnTo>
                  <a:lnTo>
                    <a:pt x="722280" y="195407"/>
                  </a:lnTo>
                  <a:lnTo>
                    <a:pt x="0" y="195407"/>
                  </a:lnTo>
                  <a:close/>
                </a:path>
              </a:pathLst>
            </a:custGeom>
            <a:solidFill>
              <a:srgbClr val="BF0B47"/>
            </a:solidFill>
            <a:ln w="38100" cap="sq">
              <a:solidFill>
                <a:srgbClr val="BF0B47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123825"/>
              <a:ext cx="722280" cy="319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7772796" y="8241922"/>
            <a:ext cx="2742407" cy="4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2300" spc="292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BATAFSIL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3046258" y="8169367"/>
            <a:ext cx="2742407" cy="741936"/>
            <a:chOff x="0" y="0"/>
            <a:chExt cx="722280" cy="19540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22280" cy="195407"/>
            </a:xfrm>
            <a:custGeom>
              <a:avLst/>
              <a:gdLst/>
              <a:ahLst/>
              <a:cxnLst/>
              <a:rect r="r" b="b" t="t" l="l"/>
              <a:pathLst>
                <a:path h="195407" w="722280">
                  <a:moveTo>
                    <a:pt x="0" y="0"/>
                  </a:moveTo>
                  <a:lnTo>
                    <a:pt x="722280" y="0"/>
                  </a:lnTo>
                  <a:lnTo>
                    <a:pt x="722280" y="195407"/>
                  </a:lnTo>
                  <a:lnTo>
                    <a:pt x="0" y="195407"/>
                  </a:lnTo>
                  <a:close/>
                </a:path>
              </a:pathLst>
            </a:custGeom>
            <a:solidFill>
              <a:srgbClr val="BF0B47"/>
            </a:solidFill>
            <a:ln w="38100" cap="sq">
              <a:solidFill>
                <a:srgbClr val="BF0B47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123825"/>
              <a:ext cx="722280" cy="319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3046258" y="8241922"/>
            <a:ext cx="2742407" cy="4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2300" spc="292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BATAFSIL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976565">
            <a:off x="16718163" y="6048339"/>
            <a:ext cx="3240024" cy="5682562"/>
            <a:chOff x="0" y="0"/>
            <a:chExt cx="853340" cy="1496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340" cy="1496642"/>
            </a:xfrm>
            <a:custGeom>
              <a:avLst/>
              <a:gdLst/>
              <a:ahLst/>
              <a:cxnLst/>
              <a:rect r="r" b="b" t="t" l="l"/>
              <a:pathLst>
                <a:path h="1496642" w="853340">
                  <a:moveTo>
                    <a:pt x="0" y="0"/>
                  </a:moveTo>
                  <a:lnTo>
                    <a:pt x="853340" y="0"/>
                  </a:lnTo>
                  <a:lnTo>
                    <a:pt x="853340" y="1496642"/>
                  </a:lnTo>
                  <a:lnTo>
                    <a:pt x="0" y="1496642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853340" cy="1620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976565">
            <a:off x="-1086970" y="-1967377"/>
            <a:ext cx="2173940" cy="4201144"/>
            <a:chOff x="0" y="0"/>
            <a:chExt cx="572560" cy="11064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976565">
            <a:off x="2030681" y="-2545523"/>
            <a:ext cx="47625" cy="4201144"/>
            <a:chOff x="0" y="0"/>
            <a:chExt cx="12543" cy="11064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7295" y="6419044"/>
            <a:ext cx="7838335" cy="6736069"/>
            <a:chOff x="0" y="0"/>
            <a:chExt cx="8128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2"/>
              <a:stretch>
                <a:fillRect l="0" t="-37327" r="0" b="-37327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502370" y="6419044"/>
            <a:ext cx="7838335" cy="6736069"/>
            <a:chOff x="0" y="0"/>
            <a:chExt cx="812800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3"/>
              <a:stretch>
                <a:fillRect l="-14493" t="0" r="-14493" b="0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628917" y="2084032"/>
            <a:ext cx="5329252" cy="103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8"/>
              </a:lnSpc>
            </a:pPr>
            <a:r>
              <a:rPr lang="en-US" sz="7920" b="true">
                <a:solidFill>
                  <a:srgbClr val="BF0B47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QUYOSH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02100" y="3898310"/>
            <a:ext cx="4429713" cy="4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 spc="29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HAYOT MANBAI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28917" y="4574370"/>
            <a:ext cx="6887724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Quyosh yorug'lik va issiqlik chiqaradi, bu Yerdagi hayot uchun asosiy manba.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20726" y="1151478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53517" y="1151478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18061" y="1151478"/>
            <a:ext cx="1441239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28917" y="3306442"/>
            <a:ext cx="7515083" cy="112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13"/>
              </a:lnSpc>
              <a:spcBef>
                <a:spcPct val="0"/>
              </a:spcBef>
            </a:pPr>
            <a:r>
              <a:rPr lang="en-US" b="true" sz="7590">
                <a:solidFill>
                  <a:srgbClr val="000000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ENERGIYASI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02100" y="4574370"/>
            <a:ext cx="6887724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Quyosh energiyasidan elektr olish uchun quyosh panellaridan foydalaniladi.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976565">
            <a:off x="17020821" y="7334352"/>
            <a:ext cx="2173940" cy="4201144"/>
            <a:chOff x="0" y="0"/>
            <a:chExt cx="572560" cy="11064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976565">
            <a:off x="16534084" y="7342039"/>
            <a:ext cx="47625" cy="4201144"/>
            <a:chOff x="0" y="0"/>
            <a:chExt cx="12543" cy="11064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976565">
            <a:off x="-2819143" y="-4761097"/>
            <a:ext cx="6363820" cy="16392110"/>
            <a:chOff x="0" y="0"/>
            <a:chExt cx="1676068" cy="43172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76068" cy="4317264"/>
            </a:xfrm>
            <a:custGeom>
              <a:avLst/>
              <a:gdLst/>
              <a:ahLst/>
              <a:cxnLst/>
              <a:rect r="r" b="b" t="t" l="l"/>
              <a:pathLst>
                <a:path h="4317264" w="1676068">
                  <a:moveTo>
                    <a:pt x="0" y="0"/>
                  </a:moveTo>
                  <a:lnTo>
                    <a:pt x="1676068" y="0"/>
                  </a:lnTo>
                  <a:lnTo>
                    <a:pt x="1676068" y="4317264"/>
                  </a:lnTo>
                  <a:lnTo>
                    <a:pt x="0" y="431726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676068" cy="4441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1976565">
            <a:off x="4627073" y="-1854581"/>
            <a:ext cx="47821" cy="10367922"/>
            <a:chOff x="0" y="0"/>
            <a:chExt cx="12595" cy="27306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5" cy="2730646"/>
            </a:xfrm>
            <a:custGeom>
              <a:avLst/>
              <a:gdLst/>
              <a:ahLst/>
              <a:cxnLst/>
              <a:rect r="r" b="b" t="t" l="l"/>
              <a:pathLst>
                <a:path h="2730646" w="12595">
                  <a:moveTo>
                    <a:pt x="0" y="0"/>
                  </a:moveTo>
                  <a:lnTo>
                    <a:pt x="12595" y="0"/>
                  </a:lnTo>
                  <a:lnTo>
                    <a:pt x="12595" y="2730646"/>
                  </a:lnTo>
                  <a:lnTo>
                    <a:pt x="0" y="2730646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12595" cy="2854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3340" y="687731"/>
            <a:ext cx="7379399" cy="6461850"/>
            <a:chOff x="0" y="0"/>
            <a:chExt cx="797683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7683" cy="698500"/>
            </a:xfrm>
            <a:custGeom>
              <a:avLst/>
              <a:gdLst/>
              <a:ahLst/>
              <a:cxnLst/>
              <a:rect r="r" b="b" t="t" l="l"/>
              <a:pathLst>
                <a:path h="698500" w="797683">
                  <a:moveTo>
                    <a:pt x="797683" y="349250"/>
                  </a:moveTo>
                  <a:lnTo>
                    <a:pt x="59448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594483" y="0"/>
                  </a:lnTo>
                  <a:lnTo>
                    <a:pt x="797683" y="349250"/>
                  </a:lnTo>
                  <a:close/>
                </a:path>
              </a:pathLst>
            </a:custGeom>
            <a:blipFill>
              <a:blip r:embed="rId2"/>
              <a:stretch>
                <a:fillRect l="0" t="-19693" r="0" b="-51391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43340" y="7692837"/>
            <a:ext cx="7379399" cy="6461850"/>
            <a:chOff x="0" y="0"/>
            <a:chExt cx="797683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7683" cy="698500"/>
            </a:xfrm>
            <a:custGeom>
              <a:avLst/>
              <a:gdLst/>
              <a:ahLst/>
              <a:cxnLst/>
              <a:rect r="r" b="b" t="t" l="l"/>
              <a:pathLst>
                <a:path h="698500" w="797683">
                  <a:moveTo>
                    <a:pt x="797683" y="349250"/>
                  </a:moveTo>
                  <a:lnTo>
                    <a:pt x="59448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594483" y="0"/>
                  </a:lnTo>
                  <a:lnTo>
                    <a:pt x="797683" y="349250"/>
                  </a:lnTo>
                  <a:close/>
                </a:path>
              </a:pathLst>
            </a:custGeom>
            <a:blipFill>
              <a:blip r:embed="rId3"/>
              <a:stretch>
                <a:fillRect l="-15715" t="0" r="-15715" b="0"/>
              </a:stretch>
            </a:blipFill>
            <a:ln w="200025" cap="sq">
              <a:solidFill>
                <a:srgbClr val="BF0B4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794314" y="3017010"/>
            <a:ext cx="5398051" cy="103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8"/>
              </a:lnSpc>
            </a:pPr>
            <a:r>
              <a:rPr lang="en-US" sz="7920" b="true">
                <a:solidFill>
                  <a:srgbClr val="BF0B47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YER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94314" y="5656702"/>
            <a:ext cx="6763583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Yer Quyoshdan uchinchi sayyora va hayot ma'lum bo'lgan yagona joy.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20726" y="1151478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953517" y="1151478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818061" y="1151478"/>
            <a:ext cx="1441239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94314" y="4153194"/>
            <a:ext cx="5245589" cy="112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13"/>
              </a:lnSpc>
              <a:spcBef>
                <a:spcPct val="0"/>
              </a:spcBef>
            </a:pPr>
            <a:r>
              <a:rPr lang="en-US" b="true" sz="5880">
                <a:solidFill>
                  <a:srgbClr val="000000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SAYYORASI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94314" y="7247401"/>
            <a:ext cx="6763583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Atmosfera va suv Yerni hayot uchun qulay qiladi.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333" r="0" b="-5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1976565">
            <a:off x="17020821" y="7334352"/>
            <a:ext cx="2173940" cy="4201144"/>
            <a:chOff x="0" y="0"/>
            <a:chExt cx="572560" cy="11064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976565">
            <a:off x="16534084" y="7342039"/>
            <a:ext cx="47625" cy="4201144"/>
            <a:chOff x="0" y="0"/>
            <a:chExt cx="12543" cy="11064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976565">
            <a:off x="-1086970" y="-1967377"/>
            <a:ext cx="2173940" cy="4201144"/>
            <a:chOff x="0" y="0"/>
            <a:chExt cx="572560" cy="11064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1976565">
            <a:off x="2030681" y="-2545523"/>
            <a:ext cx="47625" cy="4201144"/>
            <a:chOff x="0" y="0"/>
            <a:chExt cx="12543" cy="11064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66652" y="2290490"/>
            <a:ext cx="9452284" cy="1121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313"/>
              </a:lnSpc>
              <a:spcBef>
                <a:spcPct val="0"/>
              </a:spcBef>
            </a:pPr>
            <a:r>
              <a:rPr lang="en-US" b="true" sz="8660">
                <a:solidFill>
                  <a:srgbClr val="BF0B47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KELAJAK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20726" y="1151478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53517" y="1151478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818061" y="1151478"/>
            <a:ext cx="1441239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01565" y="2235260"/>
            <a:ext cx="5719783" cy="112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13"/>
              </a:lnSpc>
              <a:spcBef>
                <a:spcPct val="0"/>
              </a:spcBef>
            </a:pPr>
            <a:r>
              <a:rPr lang="en-US" b="true" sz="8250" strike="noStrike" u="none">
                <a:solidFill>
                  <a:srgbClr val="000000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KOSMOSI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988265" y="3914986"/>
            <a:ext cx="13065033" cy="2079995"/>
            <a:chOff x="0" y="0"/>
            <a:chExt cx="3440996" cy="5478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40997" cy="547818"/>
            </a:xfrm>
            <a:custGeom>
              <a:avLst/>
              <a:gdLst/>
              <a:ahLst/>
              <a:cxnLst/>
              <a:rect r="r" b="b" t="t" l="l"/>
              <a:pathLst>
                <a:path h="547818" w="3440997">
                  <a:moveTo>
                    <a:pt x="0" y="0"/>
                  </a:moveTo>
                  <a:lnTo>
                    <a:pt x="3440997" y="0"/>
                  </a:lnTo>
                  <a:lnTo>
                    <a:pt x="3440997" y="547818"/>
                  </a:lnTo>
                  <a:lnTo>
                    <a:pt x="0" y="547818"/>
                  </a:lnTo>
                  <a:close/>
                </a:path>
              </a:pathLst>
            </a:custGeom>
            <a:ln w="38100" cap="sq">
              <a:solidFill>
                <a:srgbClr val="BF0B47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23825"/>
              <a:ext cx="3440996" cy="671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339113" y="4352297"/>
            <a:ext cx="1298303" cy="1115729"/>
            <a:chOff x="0" y="0"/>
            <a:chExt cx="812800" cy="698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14300" y="-123825"/>
              <a:ext cx="584200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426946" y="4538183"/>
            <a:ext cx="1122637" cy="69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7"/>
              </a:lnSpc>
              <a:spcBef>
                <a:spcPct val="0"/>
              </a:spcBef>
            </a:pPr>
            <a:r>
              <a:rPr lang="en-US" b="true" sz="5341">
                <a:solidFill>
                  <a:srgbClr val="FFFFFF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189004" y="4140691"/>
            <a:ext cx="3955515" cy="4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 spc="29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MARSGA PARVOZ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189004" y="4810426"/>
            <a:ext cx="10729312" cy="8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Kelajakda odamlarni Marsga yuborish rejalashtirilmoqda.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936578" y="6381455"/>
            <a:ext cx="13065033" cy="2079995"/>
            <a:chOff x="0" y="0"/>
            <a:chExt cx="3440996" cy="5478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40997" cy="547818"/>
            </a:xfrm>
            <a:custGeom>
              <a:avLst/>
              <a:gdLst/>
              <a:ahLst/>
              <a:cxnLst/>
              <a:rect r="r" b="b" t="t" l="l"/>
              <a:pathLst>
                <a:path h="547818" w="3440997">
                  <a:moveTo>
                    <a:pt x="0" y="0"/>
                  </a:moveTo>
                  <a:lnTo>
                    <a:pt x="3440997" y="0"/>
                  </a:lnTo>
                  <a:lnTo>
                    <a:pt x="3440997" y="547818"/>
                  </a:lnTo>
                  <a:lnTo>
                    <a:pt x="0" y="547818"/>
                  </a:lnTo>
                  <a:close/>
                </a:path>
              </a:pathLst>
            </a:custGeom>
            <a:ln w="38100" cap="sq">
              <a:solidFill>
                <a:srgbClr val="BF0B47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3440996" cy="671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87426" y="6818767"/>
            <a:ext cx="1298303" cy="1115729"/>
            <a:chOff x="0" y="0"/>
            <a:chExt cx="812800" cy="698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14300" y="-123825"/>
              <a:ext cx="584200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75259" y="7004652"/>
            <a:ext cx="1122637" cy="69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7"/>
              </a:lnSpc>
              <a:spcBef>
                <a:spcPct val="0"/>
              </a:spcBef>
            </a:pPr>
            <a:r>
              <a:rPr lang="en-US" b="true" sz="5341">
                <a:solidFill>
                  <a:srgbClr val="FFFFFF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137317" y="6607161"/>
            <a:ext cx="3955515" cy="4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 spc="29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KOSMIK TURIZM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137317" y="7276895"/>
            <a:ext cx="10729312" cy="8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>
                    <a:alpha val="69804"/>
                  </a:srgbClr>
                </a:solidFill>
                <a:latin typeface="Lora"/>
                <a:ea typeface="Lora"/>
                <a:cs typeface="Lora"/>
                <a:sym typeface="Lora"/>
              </a:rPr>
              <a:t>Xususiy kompaniyalar oddiy odamlar uchun kosmik sayohat tashkil qilmoqda.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333" r="0" b="-5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1976565">
            <a:off x="17020821" y="7334352"/>
            <a:ext cx="2173940" cy="4201144"/>
            <a:chOff x="0" y="0"/>
            <a:chExt cx="572560" cy="11064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2560" cy="1106474"/>
            </a:xfrm>
            <a:custGeom>
              <a:avLst/>
              <a:gdLst/>
              <a:ahLst/>
              <a:cxnLst/>
              <a:rect r="r" b="b" t="t" l="l"/>
              <a:pathLst>
                <a:path h="1106474" w="572560">
                  <a:moveTo>
                    <a:pt x="0" y="0"/>
                  </a:moveTo>
                  <a:lnTo>
                    <a:pt x="572560" y="0"/>
                  </a:lnTo>
                  <a:lnTo>
                    <a:pt x="572560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572560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850350" y="7755176"/>
            <a:ext cx="2742407" cy="741936"/>
            <a:chOff x="0" y="0"/>
            <a:chExt cx="722280" cy="195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2280" cy="195407"/>
            </a:xfrm>
            <a:custGeom>
              <a:avLst/>
              <a:gdLst/>
              <a:ahLst/>
              <a:cxnLst/>
              <a:rect r="r" b="b" t="t" l="l"/>
              <a:pathLst>
                <a:path h="195407" w="722280">
                  <a:moveTo>
                    <a:pt x="0" y="0"/>
                  </a:moveTo>
                  <a:lnTo>
                    <a:pt x="722280" y="0"/>
                  </a:lnTo>
                  <a:lnTo>
                    <a:pt x="722280" y="195407"/>
                  </a:lnTo>
                  <a:lnTo>
                    <a:pt x="0" y="195407"/>
                  </a:lnTo>
                  <a:close/>
                </a:path>
              </a:pathLst>
            </a:custGeom>
            <a:ln w="38100" cap="sq">
              <a:solidFill>
                <a:srgbClr val="BF0B4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722280" cy="319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976565">
            <a:off x="16534084" y="7342039"/>
            <a:ext cx="47625" cy="4201144"/>
            <a:chOff x="0" y="0"/>
            <a:chExt cx="12543" cy="11064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822364" y="5556493"/>
            <a:ext cx="12643272" cy="142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6"/>
              </a:lnSpc>
            </a:pPr>
            <a:r>
              <a:rPr lang="en-US" b="true" sz="7090">
                <a:solidFill>
                  <a:srgbClr val="000000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E'TIBORINGIZ UCHUN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8720" y="3298681"/>
            <a:ext cx="15190560" cy="230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19"/>
              </a:lnSpc>
            </a:pPr>
            <a:r>
              <a:rPr lang="en-US" b="true" sz="17830">
                <a:solidFill>
                  <a:srgbClr val="BF0B47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RAHMAT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72595" y="7067310"/>
            <a:ext cx="8342811" cy="4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2300" spc="29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Koinot sirlari hali ochilmagan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20726" y="1151478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53517" y="1151478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818061" y="1151478"/>
            <a:ext cx="1441239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50350" y="7827731"/>
            <a:ext cx="2742407" cy="4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2130" spc="29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KO'RISHGUNCHA</a:t>
            </a:r>
          </a:p>
        </p:txBody>
      </p:sp>
      <p:grpSp>
        <p:nvGrpSpPr>
          <p:cNvPr name="Group 19" id="19"/>
          <p:cNvGrpSpPr/>
          <p:nvPr/>
        </p:nvGrpSpPr>
        <p:grpSpPr>
          <a:xfrm rot="1976565">
            <a:off x="-1913950" y="-1739871"/>
            <a:ext cx="3770382" cy="6770607"/>
            <a:chOff x="0" y="0"/>
            <a:chExt cx="993022" cy="17832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3022" cy="1783205"/>
            </a:xfrm>
            <a:custGeom>
              <a:avLst/>
              <a:gdLst/>
              <a:ahLst/>
              <a:cxnLst/>
              <a:rect r="r" b="b" t="t" l="l"/>
              <a:pathLst>
                <a:path h="1783205" w="993022">
                  <a:moveTo>
                    <a:pt x="0" y="0"/>
                  </a:moveTo>
                  <a:lnTo>
                    <a:pt x="993022" y="0"/>
                  </a:lnTo>
                  <a:lnTo>
                    <a:pt x="993022" y="1783205"/>
                  </a:lnTo>
                  <a:lnTo>
                    <a:pt x="0" y="1783205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23825"/>
              <a:ext cx="993022" cy="1907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1976565">
            <a:off x="3192957" y="-1389232"/>
            <a:ext cx="47625" cy="4201144"/>
            <a:chOff x="0" y="0"/>
            <a:chExt cx="12543" cy="110647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543" cy="1106474"/>
            </a:xfrm>
            <a:custGeom>
              <a:avLst/>
              <a:gdLst/>
              <a:ahLst/>
              <a:cxnLst/>
              <a:rect r="r" b="b" t="t" l="l"/>
              <a:pathLst>
                <a:path h="1106474" w="12543">
                  <a:moveTo>
                    <a:pt x="0" y="0"/>
                  </a:moveTo>
                  <a:lnTo>
                    <a:pt x="12543" y="0"/>
                  </a:lnTo>
                  <a:lnTo>
                    <a:pt x="12543" y="1106474"/>
                  </a:lnTo>
                  <a:lnTo>
                    <a:pt x="0" y="1106474"/>
                  </a:lnTo>
                  <a:close/>
                </a:path>
              </a:pathLst>
            </a:custGeom>
            <a:solidFill>
              <a:srgbClr val="95083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23825"/>
              <a:ext cx="12543" cy="123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DAHJjGMSCeI</dc:identifier>
  <dcterms:modified xsi:type="dcterms:W3CDTF">2011-08-01T06:04:30Z</dcterms:modified>
  <cp:revision>1</cp:revision>
  <dc:title>What is Fashion?</dc:title>
</cp:coreProperties>
</file>